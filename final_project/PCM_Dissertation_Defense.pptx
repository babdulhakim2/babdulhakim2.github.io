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a5e5d6732b4fab" /><Relationship Type="http://schemas.openxmlformats.org/officeDocument/2006/relationships/extended-properties" Target="/docProps/app.xml" Id="R5f61d0449ef84ba8" /><Relationship Type="http://schemas.openxmlformats.org/officeDocument/2006/relationships/officeDocument" Target="/ppt/presentation.xml" Id="Ra1bb42aaa2834c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2eca5394784083"/>
  </p:sldMasterIdLst>
  <p:notesMasterIdLst>
    <p:notesMasterId xmlns:r="http://schemas.openxmlformats.org/officeDocument/2006/relationships" r:id="Rd756b6166a914aae"/>
  </p:notesMasterIdLst>
  <p:sldIdLst>
    <p:sldId xmlns:r="http://schemas.openxmlformats.org/officeDocument/2006/relationships" id="256" r:id="R89da2cae29a64cd0"/>
    <p:sldId xmlns:r="http://schemas.openxmlformats.org/officeDocument/2006/relationships" id="257" r:id="R03bb7b22d6874bc3"/>
    <p:sldId xmlns:r="http://schemas.openxmlformats.org/officeDocument/2006/relationships" id="258" r:id="Rba35e50e3ade4ebe"/>
    <p:sldId xmlns:r="http://schemas.openxmlformats.org/officeDocument/2006/relationships" id="259" r:id="Rc51218f324104772"/>
    <p:sldId xmlns:r="http://schemas.openxmlformats.org/officeDocument/2006/relationships" id="260" r:id="Rb1a3c290e500480e"/>
    <p:sldId xmlns:r="http://schemas.openxmlformats.org/officeDocument/2006/relationships" id="261" r:id="R329124cd8c8e411f"/>
    <p:sldId xmlns:r="http://schemas.openxmlformats.org/officeDocument/2006/relationships" id="262" r:id="R6e819f1702174e71"/>
    <p:sldId xmlns:r="http://schemas.openxmlformats.org/officeDocument/2006/relationships" id="263" r:id="Rff9fb7f44f3b4d48"/>
    <p:sldId xmlns:r="http://schemas.openxmlformats.org/officeDocument/2006/relationships" id="264" r:id="Ra0adf97c945444e8"/>
    <p:sldId xmlns:r="http://schemas.openxmlformats.org/officeDocument/2006/relationships" id="265" r:id="R07ec559672084cc4"/>
    <p:sldId xmlns:r="http://schemas.openxmlformats.org/officeDocument/2006/relationships" id="266" r:id="Rd97c57de299448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eca5394784083" /><Relationship Type="http://schemas.openxmlformats.org/officeDocument/2006/relationships/theme" Target="/ppt/theme/theme1.xml" Id="Rba4726fa36c64b85" /><Relationship Type="http://schemas.openxmlformats.org/officeDocument/2006/relationships/notesMaster" Target="/ppt/notesMasters/notesMaster1.xml" Id="Rd756b6166a914aae" /><Relationship Type="http://schemas.openxmlformats.org/officeDocument/2006/relationships/presProps" Target="/ppt/presProps.xml" Id="Rcc6fe72dc8c74a21" /><Relationship Type="http://schemas.openxmlformats.org/officeDocument/2006/relationships/viewProps" Target="/ppt/viewProps.xml" Id="R8699d26470c3484c" /><Relationship Type="http://schemas.openxmlformats.org/officeDocument/2006/relationships/tableStyles" Target="/ppt/tableStyles.xml" Id="Rce067a450c834aba" /><Relationship Type="http://schemas.openxmlformats.org/officeDocument/2006/relationships/slide" Target="/ppt/slides/slide1.xml" Id="R89da2cae29a64cd0" /><Relationship Type="http://schemas.openxmlformats.org/officeDocument/2006/relationships/slide" Target="/ppt/slides/slide2.xml" Id="R03bb7b22d6874bc3" /><Relationship Type="http://schemas.openxmlformats.org/officeDocument/2006/relationships/slide" Target="/ppt/slides/slide3.xml" Id="Rba35e50e3ade4ebe" /><Relationship Type="http://schemas.openxmlformats.org/officeDocument/2006/relationships/slide" Target="/ppt/slides/slide4.xml" Id="Rc51218f324104772" /><Relationship Type="http://schemas.openxmlformats.org/officeDocument/2006/relationships/slide" Target="/ppt/slides/slide5.xml" Id="Rb1a3c290e500480e" /><Relationship Type="http://schemas.openxmlformats.org/officeDocument/2006/relationships/slide" Target="/ppt/slides/slide6.xml" Id="R329124cd8c8e411f" /><Relationship Type="http://schemas.openxmlformats.org/officeDocument/2006/relationships/slide" Target="/ppt/slides/slide7.xml" Id="R6e819f1702174e71" /><Relationship Type="http://schemas.openxmlformats.org/officeDocument/2006/relationships/slide" Target="/ppt/slides/slide8.xml" Id="Rff9fb7f44f3b4d48" /><Relationship Type="http://schemas.openxmlformats.org/officeDocument/2006/relationships/slide" Target="/ppt/slides/slide9.xml" Id="Ra0adf97c945444e8" /><Relationship Type="http://schemas.openxmlformats.org/officeDocument/2006/relationships/slide" Target="/ppt/slides/slide10.xml" Id="R07ec559672084cc4" /><Relationship Type="http://schemas.openxmlformats.org/officeDocument/2006/relationships/slide" Target="/ppt/slides/slide11.xml" Id="Rd97c57de299448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1c2540c801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35fdebee514dca" /><Relationship Type="http://schemas.openxmlformats.org/officeDocument/2006/relationships/notesMaster" Target="/ppt/notesMasters/notesMaster1.xml" Id="R528883e5bb9b42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1fa26ae5c4ead" /><Relationship Type="http://schemas.openxmlformats.org/officeDocument/2006/relationships/notesMaster" Target="/ppt/notesMasters/notesMaster1.xml" Id="R60220c68b74b42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aa634401e847a7" /><Relationship Type="http://schemas.openxmlformats.org/officeDocument/2006/relationships/notesMaster" Target="/ppt/notesMasters/notesMaster1.xml" Id="Rf3f909673fc04d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f7a52f92d545ce" /><Relationship Type="http://schemas.openxmlformats.org/officeDocument/2006/relationships/notesMaster" Target="/ppt/notesMasters/notesMaster1.xml" Id="Rd7200a512e634a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b0b541228847e7" /><Relationship Type="http://schemas.openxmlformats.org/officeDocument/2006/relationships/notesMaster" Target="/ppt/notesMasters/notesMaster1.xml" Id="R03d0fb17178d44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41ac7dd0b24aab" /><Relationship Type="http://schemas.openxmlformats.org/officeDocument/2006/relationships/notesMaster" Target="/ppt/notesMasters/notesMaster1.xml" Id="Rf2f0d681a7e343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98ab7346da4539" /><Relationship Type="http://schemas.openxmlformats.org/officeDocument/2006/relationships/notesMaster" Target="/ppt/notesMasters/notesMaster1.xml" Id="R015f97223a4643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e69cea85254dc0" /><Relationship Type="http://schemas.openxmlformats.org/officeDocument/2006/relationships/notesMaster" Target="/ppt/notesMasters/notesMaster1.xml" Id="R66811731406948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452ad03dca4f13" /><Relationship Type="http://schemas.openxmlformats.org/officeDocument/2006/relationships/notesMaster" Target="/ppt/notesMasters/notesMaster1.xml" Id="Rf1d83911cd4349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a4c14fcbc44826" /><Relationship Type="http://schemas.openxmlformats.org/officeDocument/2006/relationships/notesMaster" Target="/ppt/notesMasters/notesMaster1.xml" Id="R3675252257e047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de77d052d1467e" /><Relationship Type="http://schemas.openxmlformats.org/officeDocument/2006/relationships/notesMaster" Target="/ppt/notesMasters/notesMaster1.xml" Id="R076a0b565a6a4b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satisfy the introduction, contextualisation, and overview requirement explicitly.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with the research question: whether a lightweight PCM can intercept unsafe browser actions before execution without redesigning the base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use the four panels to state the research focus, why the problem matters, what the dissertation contributes, and how the talk is organised.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lower row provides the empirical context: capability and compliance diverge, and the project had to move from a weak synthetic prototype to a benchmark-grounded evaluation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answer both what the artefact is and where it would be applied.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Emphasise that the base agent is unchanged and the guardrail sits in the control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application examples to show that the artefact is relevant beyond SuiteCRM: CRM, HR/IT service, finance, and governed browser copilots.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asked about the equation, explain that it is a wrapper-level multi-policy decision rule rather than a single-input classifier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distinction clearly: synthetic here does not mean free-form templating.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corpus is benchmark-grounded because tasks and policies come from ST-WebAgentBench, while the synthetic step creates runtime-shaped compliant and violating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uneven distribution does not prove overfitting by itself. It signals coverage risk, which is why the challenge split and the live pilot matter.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covers the optimisation choices only after the data story is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main argument is that the final performance depends more on benchmark-grounded formulation than on exotic optimisation tricks.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pressed on imbalance, refer back to the previous slide: the challenge split and live pilot are the real generalisation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purpose of this slide is to stop the audience from anchoring on the easy split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State that the challenge split is the main evidential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McNemar line to explain that PCM is not only better on aggregate metrics; it is better on the same examples than the rule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sound methodological, not defensive.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the lack of protected-attribute labels constrains what a fairness audit can honestly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academically grounded choice was to frame bias as a validity and generalisability problem, then justify the safeguards in those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 not need to read this slide aloud in full.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it to show that the presentation is academically grounded and that the full bibliography is in the dissertation.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challenged on sources, point to the benchmark, BrowserGym, DeBERTa, synthetic-data limitations, and the bias/measurement literature.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2ef7bef104e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f26f60c1b4f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dab45be7042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deadbf7574d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d3ad5ee2f4b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93c60aa74460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a14df94724b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a0202f34e443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b04037f724c3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c3d3aa175489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81caf5d3240e5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77eb7e136464d" /><Relationship Type="http://schemas.openxmlformats.org/officeDocument/2006/relationships/theme" Target="/ppt/theme/theme1.xml" Id="Ra214b99592424833" /><Relationship Type="http://schemas.openxmlformats.org/officeDocument/2006/relationships/slideLayout" Target="/ppt/slideLayouts/slideLayout2.xml" Id="Rfea146c3d7c34627" /><Relationship Type="http://schemas.openxmlformats.org/officeDocument/2006/relationships/slideLayout" Target="/ppt/slideLayouts/slideLayout3.xml" Id="R4c7c249e87904aed" /><Relationship Type="http://schemas.openxmlformats.org/officeDocument/2006/relationships/slideLayout" Target="/ppt/slideLayouts/slideLayout4.xml" Id="R8664ffbfa8d24fc5" /><Relationship Type="http://schemas.openxmlformats.org/officeDocument/2006/relationships/slideLayout" Target="/ppt/slideLayouts/slideLayout5.xml" Id="R023241e1c5924338" /><Relationship Type="http://schemas.openxmlformats.org/officeDocument/2006/relationships/slideLayout" Target="/ppt/slideLayouts/slideLayout6.xml" Id="Re92a3289eede4ab8" /><Relationship Type="http://schemas.openxmlformats.org/officeDocument/2006/relationships/slideLayout" Target="/ppt/slideLayouts/slideLayout7.xml" Id="R55f3bc53bda74202" /><Relationship Type="http://schemas.openxmlformats.org/officeDocument/2006/relationships/slideLayout" Target="/ppt/slideLayouts/slideLayout8.xml" Id="R0966e2e197d94a44" /><Relationship Type="http://schemas.openxmlformats.org/officeDocument/2006/relationships/slideLayout" Target="/ppt/slideLayouts/slideLayout9.xml" Id="R1730a914c3f74c26" /><Relationship Type="http://schemas.openxmlformats.org/officeDocument/2006/relationships/slideLayout" Target="/ppt/slideLayouts/slideLayout10.xml" Id="R49741adefffe4df9" /><Relationship Type="http://schemas.openxmlformats.org/officeDocument/2006/relationships/slideLayout" Target="/ppt/slideLayouts/slideLayout11.xml" Id="R427506473431445c" /><Relationship Type="http://schemas.openxmlformats.org/officeDocument/2006/relationships/slideLayout" Target="/ppt/slideLayouts/slideLayout12.xml" Id="R768e89376edb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48177eb7e136464d"/>
    <p:sldLayoutId xmlns:r="http://schemas.openxmlformats.org/officeDocument/2006/relationships" id="2147483649" r:id="Rfea146c3d7c34627"/>
    <p:sldLayoutId xmlns:r="http://schemas.openxmlformats.org/officeDocument/2006/relationships" id="2147483650" r:id="R4c7c249e87904aed"/>
    <p:sldLayoutId xmlns:r="http://schemas.openxmlformats.org/officeDocument/2006/relationships" id="2147483651" r:id="R8664ffbfa8d24fc5"/>
    <p:sldLayoutId xmlns:r="http://schemas.openxmlformats.org/officeDocument/2006/relationships" id="2147483652" r:id="R023241e1c5924338"/>
    <p:sldLayoutId xmlns:r="http://schemas.openxmlformats.org/officeDocument/2006/relationships" id="2147483653" r:id="Re92a3289eede4ab8"/>
    <p:sldLayoutId xmlns:r="http://schemas.openxmlformats.org/officeDocument/2006/relationships" id="2147483654" r:id="R55f3bc53bda74202"/>
    <p:sldLayoutId xmlns:r="http://schemas.openxmlformats.org/officeDocument/2006/relationships" id="2147483655" r:id="R0966e2e197d94a44"/>
    <p:sldLayoutId xmlns:r="http://schemas.openxmlformats.org/officeDocument/2006/relationships" id="2147483656" r:id="R1730a914c3f74c26"/>
    <p:sldLayoutId xmlns:r="http://schemas.openxmlformats.org/officeDocument/2006/relationships" id="2147483657" r:id="R49741adefffe4df9"/>
    <p:sldLayoutId xmlns:r="http://schemas.openxmlformats.org/officeDocument/2006/relationships" id="2147483658" r:id="R427506473431445c"/>
    <p:sldLayoutId xmlns:r="http://schemas.openxmlformats.org/officeDocument/2006/relationships" id="2147483659" r:id="R768e89376edb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87922946cc4426c" /><Relationship Type="http://schemas.openxmlformats.org/officeDocument/2006/relationships/notesSlide" Target="/ppt/notesSlides/notesSlide1.xml" Id="Rb370a76d873b4c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f09ca58d947ef" /><Relationship Type="http://schemas.openxmlformats.org/officeDocument/2006/relationships/notesSlide" Target="/ppt/notesSlides/notesSlide2.xml" Id="R26d96a8b24af4b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efa6a17224438" /><Relationship Type="http://schemas.openxmlformats.org/officeDocument/2006/relationships/notesSlide" Target="/ppt/notesSlides/notesSlide3.xml" Id="R8af32204c2de4f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fc005aeb140ed" /><Relationship Type="http://schemas.openxmlformats.org/officeDocument/2006/relationships/notesSlide" Target="/ppt/notesSlides/notesSlide4.xml" Id="R51dc6b8f8ff245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96cae603ab4f70" /><Relationship Type="http://schemas.openxmlformats.org/officeDocument/2006/relationships/image" Target="/ppt/media/image.png" Id="R2a7233a63a0e4c8f" /><Relationship Type="http://schemas.openxmlformats.org/officeDocument/2006/relationships/notesSlide" Target="/ppt/notesSlides/notesSlide5.xml" Id="R745cc65498564b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17a7675a94b43" /><Relationship Type="http://schemas.openxmlformats.org/officeDocument/2006/relationships/notesSlide" Target="/ppt/notesSlides/notesSlide6.xml" Id="Rd6aa90a8601b4c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92248243c214e7a" /><Relationship Type="http://schemas.openxmlformats.org/officeDocument/2006/relationships/image" Target="/ppt/media/image2.png" Id="Ra1a4771829304df2" /><Relationship Type="http://schemas.openxmlformats.org/officeDocument/2006/relationships/image" Target="/ppt/media/image3.png" Id="R307069046ec44add" /><Relationship Type="http://schemas.openxmlformats.org/officeDocument/2006/relationships/notesSlide" Target="/ppt/notesSlides/notesSlide7.xml" Id="R4636d2a5183147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d18dec42214e5d" /><Relationship Type="http://schemas.openxmlformats.org/officeDocument/2006/relationships/image" Target="/ppt/media/image4.png" Id="R0a4dab78a18644cc" /><Relationship Type="http://schemas.openxmlformats.org/officeDocument/2006/relationships/notesSlide" Target="/ppt/notesSlides/notesSlide8.xml" Id="Rb7bd2ba3d1514c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c064a62a34861" /><Relationship Type="http://schemas.openxmlformats.org/officeDocument/2006/relationships/notesSlide" Target="/ppt/notesSlides/notesSlide9.xml" Id="Rd6e984a006be43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6d1a4b67f94a44" /><Relationship Type="http://schemas.openxmlformats.org/officeDocument/2006/relationships/notesSlide" Target="/ppt/notesSlides/notesSlide10.xml" Id="R0d3e30ec111941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7a19a922c423c" /><Relationship Type="http://schemas.openxmlformats.org/officeDocument/2006/relationships/notesSlide" Target="/ppt/notesSlides/notesSlide11.xml" Id="R01d03b94d1a04e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0E5315-ED2A-4E94-AE6C-C8D197F9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38"/>
          </a:solidFill>
          <a:ln xmlns:a="http://schemas.openxmlformats.org/drawingml/2006/main" w="0">
            <a:solidFill>
              <a:srgbClr val="162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78147-AAE3-461F-8303-D8A42BF3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DFEC"/>
                </a:solidFill>
                <a:latin typeface="Aptos"/>
                <a:ea typeface="Aptos"/>
                <a:cs typeface="Aptos"/>
              </a:rPr>
              <a:t>DISSERTATION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928CC-FEA8-49C7-802B-73C40624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685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Encoder-scale policy guardrails can be lightweight, auditable, and empirically defensible.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106CA-CE14-4588-9961-BC587CE5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DFEC"/>
                </a:solidFill>
                <a:latin typeface="Aptos"/>
                <a:ea typeface="Aptos"/>
                <a:cs typeface="Aptos"/>
              </a:rPr>
              <a:t>The project moved from misleadingly easy synthetic evaluation to a benchmark-grounded pipeline with a credible challenge split and a focused live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EEA15-7D61-4EE0-BF13-BB88C14B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00100"/>
            <a:ext cx="3848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44F"/>
          </a:solidFill>
          <a:ln xmlns:a="http://schemas.openxmlformats.org/drawingml/2006/main" w="0">
            <a:solidFill>
              <a:srgbClr val="2234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1574B-D5D5-4789-B84F-E4C358D5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933450"/>
            <a:ext cx="3543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9A2E"/>
                </a:solidFill>
                <a:latin typeface="Aptos"/>
                <a:ea typeface="Aptos"/>
                <a:cs typeface="Aptos"/>
              </a:rPr>
              <a:t>Thesis in one sentence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FB860-105E-420A-859C-2B12A2E9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200150"/>
            <a:ext cx="3543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compact encoder can act as a pre-execution compliance gate for web agents, but only if the data formulation and evaluation protocol are treated as first-class design problems.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1902C-9271-4C53-980A-33128A04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1790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C"/>
          </a:solidFill>
          <a:ln xmlns:a="http://schemas.openxmlformats.org/drawingml/2006/main" w="0">
            <a:solidFill>
              <a:srgbClr val="3146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23563-BFE1-44CE-AFE7-23CACE13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432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6E0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E0F1"/>
                </a:solidFill>
                <a:latin typeface="Aptos"/>
                <a:ea typeface="Aptos"/>
                <a:cs typeface="Aptos"/>
              </a:rPr>
              <a:t>Challenge split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9EEC8-F0BA-48AA-BE80-B3544638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0.9145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64904-F078-4477-8C63-680C519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09850"/>
            <a:ext cx="1790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C"/>
          </a:solidFill>
          <a:ln xmlns:a="http://schemas.openxmlformats.org/drawingml/2006/main" w="0">
            <a:solidFill>
              <a:srgbClr val="3146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302D2-58BD-4F68-911B-DDDE38BA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432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6E0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E0F1"/>
                </a:solidFill>
                <a:latin typeface="Aptos"/>
                <a:ea typeface="Aptos"/>
                <a:cs typeface="Aptos"/>
              </a:rPr>
              <a:t>Challenge FPR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8EC0D-76BB-4298-91AF-F92C9DFD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990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0.0000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D7A7F-56CB-478D-9CFD-803DFD34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52850"/>
            <a:ext cx="1790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C"/>
          </a:solidFill>
          <a:ln xmlns:a="http://schemas.openxmlformats.org/drawingml/2006/main" w="0">
            <a:solidFill>
              <a:srgbClr val="3146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DAA6B-97EE-4E39-A1FD-94FDFC94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862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6E0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E0F1"/>
                </a:solidFill>
                <a:latin typeface="Aptos"/>
                <a:ea typeface="Aptos"/>
                <a:cs typeface="Aptos"/>
              </a:rPr>
              <a:t>Live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97A48-AF42-4120-B71D-4226B163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529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 → 6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violations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71317-C5F9-4283-B7AC-DDC54EFC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52850"/>
            <a:ext cx="1790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C"/>
          </a:solidFill>
          <a:ln xmlns:a="http://schemas.openxmlformats.org/drawingml/2006/main" w="0">
            <a:solidFill>
              <a:srgbClr val="3146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DA33A-FF26-41E0-A70C-E2F4B45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862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6E0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E0F1"/>
                </a:solidFill>
                <a:latin typeface="Aptos"/>
                <a:ea typeface="Aptos"/>
                <a:cs typeface="Aptos"/>
              </a:rPr>
              <a:t>Main 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90067-D6A5-492A-BCC4-8F4EED87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529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Live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calibration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0A589-F3B6-4F46-A9B6-87568A1F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48250"/>
            <a:ext cx="384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44F"/>
          </a:solidFill>
          <a:ln xmlns:a="http://schemas.openxmlformats.org/drawingml/2006/main" w="0">
            <a:solidFill>
              <a:srgbClr val="2234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7D4E4-8592-4F96-A052-B00FF7CB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81600"/>
            <a:ext cx="3543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Three contributions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03BD9-CD88-4317-86F1-2269B06C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483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BrowserGym-compatible PCM wrapper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2. Benchmark-grounded corpus and training pipeline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Credible offline evidence plus a live SuiteCRM pilot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275F4-8FFA-4479-958F-E71C299F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Abdulhakim Bashir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MSc Artificial Intelligence · University of Essex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79D6F6-1CE4-4BD9-B0A1-AA2743F2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9DB0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DB0C7"/>
                </a:solidFill>
                <a:latin typeface="Aptos"/>
                <a:ea typeface="Aptos"/>
                <a:cs typeface="Aptos"/>
              </a:rPr>
              <a:t>Source: final dissertation, Chapters 1–6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CA16C0-A6A7-45AA-B2A0-41C7F4F5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D"/>
          </a:solidFill>
          <a:ln xmlns:a="http://schemas.openxmlformats.org/drawingml/2006/main" w="0">
            <a:solidFill>
              <a:srgbClr val="1F2C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694D1-994E-48DD-84A2-5F34E680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8C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8C7"/>
                </a:solidFill>
                <a:latin typeface="Aptos"/>
                <a:ea typeface="Aptos"/>
                <a:cs typeface="Aptos"/>
              </a:rPr>
              <a:t>Sources: project synthesis; full academic references and links on the final slide.</a:t>
            </a:r>
          </a:p>
        </p:txBody>
      </p:sp>
    </p:spTree>
    <p:extLst>
      <p:ext uri="{BB962C8B-B14F-4D97-AF65-F5344CB8AC3E}">
        <p14:creationId xmlns:p14="http://schemas.microsoft.com/office/powerpoint/2010/main" val="10840160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F25411-042D-41D5-9270-488C28D4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F7F2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B2303-E50A-44D1-9B0D-13681DBB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A9A4E-F4D4-4211-AB94-FF6EFEA0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Policy-compliant web agents remain an open enterprise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A51CF-E2FB-4CA1-AEC6-E07EEA2D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This dissertation asks whether a lightweight encoder-based Policy Compliance Module can intercept policy-violating browser actions before execution without redesigning the base agent.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911F3-04E6-4738-9158-B5770FE4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419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83F7F-F9CC-4F11-9352-74351882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Research 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1FA3A-3962-4D96-95D1-43948530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114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Design and evaluate a BrowserGym-compatible pre-execution guardrail that scores proposed web-agent actions against active policies.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AA337-FD54-48A1-8430-03A4D14E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28850"/>
            <a:ext cx="2419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7A196-6E00-4787-BA4A-157C2A7F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3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734D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B23CB-6538-44BC-86F7-AB666FCE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2114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Recent benchmarks show a compliance gap: agents can complete tasks while still violating organisational constraints.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AE494-E363-4FA2-B6C5-6C26EE4A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2885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4DF"/>
          </a:solidFill>
          <a:ln xmlns:a="http://schemas.openxmlformats.org/drawingml/2006/main" w="0">
            <a:solidFill>
              <a:srgbClr val="F4E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A139A-29D6-460A-A1FA-A2DB4B97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4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4F4F"/>
                </a:solidFill>
                <a:latin typeface="Aptos"/>
                <a:ea typeface="Aptos"/>
                <a:cs typeface="Aptos"/>
              </a:rPr>
              <a:t>What this project contributes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A37EF-1A67-4BAE-832A-AF7022CE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A benchmark-grounded corpus, a lightweight DeBERTa-based PCM, and offline plus live evaluation.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56DF7-79B7-404B-9C46-07827795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solidFill>
              <a:srgbClr val="F4EF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7832F-2956-47BD-80FA-B838B4C4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431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Presentation overview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F39D2-E259-43C9-9C13-AFE4808B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2171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Problem and gap → artefact and data → evaluation → limitations, applications, and future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E6803-BD06-4A3D-8B8A-BCE925B4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6D"/>
          </a:solidFill>
          <a:ln xmlns:a="http://schemas.openxmlformats.org/drawingml/2006/main" w="0">
            <a:solidFill>
              <a:srgbClr val="2F48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D0D6F-AC6F-4F15-9E99-1F72B9D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ST-WebAgentBench 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97CF2-25E6-4438-B5BC-E0974BA3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15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CuP ≈ 38%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below CR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378F9-D483-4BF9-A592-91ADCDAD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623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D83"/>
          </a:solidFill>
          <a:ln xmlns:a="http://schemas.openxmlformats.org/drawingml/2006/main" w="0">
            <a:solidFill>
              <a:srgbClr val="6E5D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1A212-5B4E-449C-B591-1C7410D5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766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Heavy-policy 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46377-04AB-430C-BF31-37559EDA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24300"/>
            <a:ext cx="215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CuP = 7.1%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under ≥5 policies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323C8-346C-455F-AFA4-87C605AA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E83"/>
          </a:solidFill>
          <a:ln xmlns:a="http://schemas.openxmlformats.org/drawingml/2006/main" w="0">
            <a:solidFill>
              <a:srgbClr val="435E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35173-D350-443E-857D-BDDEAEE7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7665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Live-web warning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D812A8-788B-4B1A-9EB0-8D996A4A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24300"/>
            <a:ext cx="2552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Up to 59%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lower than closed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benchmarks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A0348-88B6-4D03-A784-32D17827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23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FBC696-351E-4521-930F-B86E0F36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Contextualisation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3509F6-3BBA-43A6-9EC9-70B95626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24300"/>
            <a:ext cx="2171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The project began with an overly easy synthetic prototype and moved to a benchmark-grounded pipeline because evaluation design, not model choice alone, determines whether a guardrail claim is credible.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644165-EF5D-445F-9A17-2C1403A9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Overview of the talk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67880D-D7C5-4FF0-B1AD-A5F65C24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885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2DBA9D-8285-410C-BA59-5FA15D03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1. Problem and gap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E8226D-CF53-41A1-9A20-CCE75E4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95850"/>
            <a:ext cx="1981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FD1A35-C3EC-4D87-B4C8-769118BF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6252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73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734D"/>
                </a:solidFill>
                <a:latin typeface="Aptos"/>
                <a:ea typeface="Aptos"/>
                <a:cs typeface="Aptos"/>
              </a:rPr>
              <a:t>2. Artefact and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7F175D-9BA1-4CE1-874E-274F0356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9585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4DF"/>
          </a:solidFill>
          <a:ln xmlns:a="http://schemas.openxmlformats.org/drawingml/2006/main" w="0">
            <a:solidFill>
              <a:srgbClr val="F4E4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46896F-9135-48DB-8C45-14CDF138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625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F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F4F"/>
                </a:solidFill>
                <a:latin typeface="Aptos"/>
                <a:ea typeface="Aptos"/>
                <a:cs typeface="Aptos"/>
              </a:rPr>
              <a:t>3. Evidence and live pilot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76451A-9ABB-4423-A48C-0CCA3C5C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958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solidFill>
              <a:srgbClr val="F4EF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41ED58-E15C-4E15-BE02-410520DB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62525"/>
            <a:ext cx="3181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4. Limits, applications, future 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306F33-1CF4-4323-AFE7-28AAA721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610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44C2A4-4D56-4CC7-816A-5F107891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1030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Opening argument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326482-E9AF-41C7-8F17-DC5B4168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030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The central claim is therefore not that encoders are magically sufficient, but that a compact policy-conditioned guardrail can be credible when its data formulation, thresholding, and evaluation protocol are designed carefully.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338B49-8ADF-47F4-8736-E32316DC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683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68398"/>
                </a:solidFill>
                <a:latin typeface="Aptos"/>
                <a:ea typeface="Aptos"/>
                <a:cs typeface="Aptos"/>
              </a:rPr>
              <a:t>Sources: Levy et al. (2026); Xue et al. (2025); Zhang et al. (2024). Full references and links on the final slide.</a:t>
            </a:r>
          </a:p>
        </p:txBody>
      </p:sp>
    </p:spTree>
    <p:extLst>
      <p:ext uri="{BB962C8B-B14F-4D97-AF65-F5344CB8AC3E}">
        <p14:creationId xmlns:p14="http://schemas.microsoft.com/office/powerpoint/2010/main" val="7537276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0C36F6-4392-4E15-8106-767FB18F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D"/>
          </a:solidFill>
          <a:ln xmlns:a="http://schemas.openxmlformats.org/drawingml/2006/main" w="0">
            <a:solidFill>
              <a:srgbClr val="1F2C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783A8-7FB9-4C45-B4B7-66751687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F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CE4F0"/>
                </a:solidFill>
                <a:latin typeface="Aptos"/>
                <a:ea typeface="Aptos"/>
                <a:cs typeface="Aptos"/>
              </a:rPr>
              <a:t>ARTEFACT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F64B8-4FDF-4196-BC98-C523FA9D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PCM intervenes before browser execution, and the same wrapper can serve multiple governed agent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2AA36-1481-46E3-BCDA-E52EA17B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DE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6DEEA"/>
                </a:solidFill>
                <a:latin typeface="Aptos"/>
                <a:ea typeface="Aptos"/>
                <a:cs typeface="Aptos"/>
              </a:rPr>
              <a:t>The base agent stays unchanged. The wrapper naturalises the proposed action, scores it against active policies, and returns a permit, block, or confirmation path before the browser 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221D0-32C5-4326-A460-9F1185BE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D83"/>
          </a:solidFill>
          <a:ln xmlns:a="http://schemas.openxmlformats.org/drawingml/2006/main" w="0">
            <a:solidFill>
              <a:srgbClr val="6E5D8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385CB-2B08-4B61-A881-A36E5AEF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BrowserGym</a:t>
            </a:r>
          </a:p>
          <a:p xmlns:a="http://schemas.openxmlformats.org/drawingml/2006/main">
            <a:pPr algn="ctr">
              <a:defRPr sz="12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951F1-CC83-405B-881B-5BC157D4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289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9FCD2-A8BA-45FE-801D-97FC53C1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09850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1FF53-1467-4D25-8044-E8518D7D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71775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Base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5310D-DBED-4F54-A12F-3DCC2C23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289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65CB8-D1A9-4C65-990B-B8BD9148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A6"/>
          </a:solidFill>
          <a:ln xmlns:a="http://schemas.openxmlformats.org/drawingml/2006/main" w="0">
            <a:solidFill>
              <a:srgbClr val="F6E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56A7C-6F7B-4B10-89EB-280D26F1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717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Action</a:t>
            </a:r>
          </a:p>
          <a:p xmlns:a="http://schemas.openxmlformats.org/drawingml/2006/main">
            <a:pPr algn="ctr">
              <a:defRPr sz="12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naturalisation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8B7C9-B012-47A3-A64A-A3389986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289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0342D-2251-4CC0-BD9A-CACC4041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1D9"/>
          </a:solidFill>
          <a:ln xmlns:a="http://schemas.openxmlformats.org/drawingml/2006/main" w="0">
            <a:solidFill>
              <a:srgbClr val="E6D1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B420B-B817-4919-BA1C-EBAF5BB5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PCM</a:t>
            </a:r>
          </a:p>
          <a:p xmlns:a="http://schemas.openxmlformats.org/drawingml/2006/main">
            <a:pPr algn="ctr">
              <a:defRPr sz="12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classifier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A9F0B-266A-430F-9B64-239668D8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289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43A3F-DE51-4105-8A0F-DA575B1F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0985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F1A2C-147F-47FB-8F7E-AFFCDEB9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717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Permit /</a:t>
            </a:r>
          </a:p>
          <a:p xmlns:a="http://schemas.openxmlformats.org/drawingml/2006/main">
            <a:pPr algn="ctr">
              <a:defRPr sz="12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block /</a:t>
            </a:r>
          </a:p>
          <a:p xmlns:a="http://schemas.openxmlformats.org/drawingml/2006/main">
            <a:pPr algn="ctr">
              <a:defRPr sz="12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confirm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FAF28-68EB-4199-B88C-D791EAF4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069B0-A613-41FC-9B3E-748B996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Decision 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8E458-00EC-49C7-BC04-B1D8F7A2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block if max_p P(v=1 | policy_p, context, action) ≥ 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B46BA-7018-42E6-AB1E-5CE688B3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Each active policy is scored independently, so the wrapper applies conservative OR-logic across organisational constraints.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FEC55-2AB3-4B98-80A7-5B5F3C45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3943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E83"/>
          </a:solidFill>
          <a:ln xmlns:a="http://schemas.openxmlformats.org/drawingml/2006/main" w="0">
            <a:solidFill>
              <a:srgbClr val="435E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529BD7-3F32-4E18-B589-23550E58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3638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Why this architecture matters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DFF73-E352-4768-83D8-9D307C75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It separates planning from compliance, preserves the original agent, and produces a per-action audit trail suitable for thresholded permit/block decisions.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999027-9429-4FA2-8F20-145DA0FE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34000"/>
            <a:ext cx="3943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362EA-744B-4CF8-B4EA-3B64AD9B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48300"/>
            <a:ext cx="3638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3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734D"/>
                </a:solidFill>
                <a:latin typeface="Aptos"/>
                <a:ea typeface="Aptos"/>
                <a:cs typeface="Aptos"/>
              </a:rPr>
              <a:t>Example applications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50F292-8CDC-4109-A408-02418BC4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95950"/>
            <a:ext cx="3638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CRM and ERP record-management agents</a:t>
            </a:r>
          </a:p>
          <a:p xmlns:a="http://schemas.openxmlformats.org/drawingml/2006/main">
            <a:pPr algn="l">
              <a:defRPr sz="990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HR / IT service workflows with approval rules</a:t>
            </a:r>
          </a:p>
          <a:p xmlns:a="http://schemas.openxmlformats.org/drawingml/2006/main">
            <a:pPr algn="l">
              <a:defRPr sz="990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Finance or operations agents with destructive actions</a:t>
            </a:r>
          </a:p>
          <a:p xmlns:a="http://schemas.openxmlformats.org/drawingml/2006/main">
            <a:pPr algn="l">
              <a:defRPr sz="990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Governed browser copilots in internal systems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14D905-64D0-4B8D-B264-2D917C5C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8C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8C7"/>
                </a:solidFill>
                <a:latin typeface="Aptos"/>
                <a:ea typeface="Aptos"/>
                <a:cs typeface="Aptos"/>
              </a:rPr>
              <a:t>Sources: de Chezelles et al. (2025); Levy et al. (2026); this study.</a:t>
            </a:r>
          </a:p>
        </p:txBody>
      </p:sp>
    </p:spTree>
    <p:extLst>
      <p:ext uri="{BB962C8B-B14F-4D97-AF65-F5344CB8AC3E}">
        <p14:creationId xmlns:p14="http://schemas.microsoft.com/office/powerpoint/2010/main" val="14694929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2994ED-94C8-4E18-A85E-9CF8D4A1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F7F2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C6FFC-2FA5-4C9C-92C4-3472C7C7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D2A00-31F5-4C64-875D-334E655B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1038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The training corpus is synthetic, but it is benchmark-grounded and intentionally shaped to resemble runtime agent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CCBA1-1F47-4879-8275-5110598B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Each sample is derived from a benchmark task-policy pair and rendered into the same [POLICY] + [CONTEXT] + [ACTION] structure that the wrapper scores at inference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3A62F-92B8-4F79-BA90-97D286F9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65722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1B95E-781D-4293-A463-C3288579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Training-set distribution by safety dimension (n = 12,493)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1A392-0741-4BA9-899E-3678355B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552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solidFill>
              <a:srgbClr val="D7DD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4BD9B-FE58-44A9-A6F6-2A62A8E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14650"/>
            <a:ext cx="14288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solidFill>
              <a:srgbClr val="D7DD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53B65-6036-47D3-A22E-E9F64DC0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A2922-6D45-4F60-9EB4-6957CBFD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768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D81DC-E862-475B-AF33-3F0ED717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377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199B2-34D7-4C7F-A5BD-6E4E558D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75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1000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A73EE-7241-4AA2-8776-64FACC25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45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37335-7EB6-4282-B38F-7B3B14C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83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2000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62614-D437-431E-834A-56787F1C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34817-9E1F-42C7-908B-97CB105E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3000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D6EAB-3B19-4470-BAFB-45F99603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60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0DA12-6391-48E0-8960-840F8B79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98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4000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C87D9-0223-4ED1-8029-1066DD82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677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6550F-8D04-43FB-B42A-F12FFEE4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05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5000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7594E-978E-4FF5-A48C-64DD4934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D76AD-3C85-4B2B-9733-1A600C2F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813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6000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9DD85-F2D2-45C4-8667-DC805913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0739"/>
            <a:ext cx="685800" cy="2032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D83"/>
          </a:solidFill>
          <a:ln xmlns:a="http://schemas.openxmlformats.org/drawingml/2006/main" w="0">
            <a:solidFill>
              <a:srgbClr val="6E5D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BCB78-665B-42A1-99E9-E85CB346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9289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5819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439A3-6203-408D-B5D1-67CF1F6E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Boundary</a:t>
            </a:r>
          </a:p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&amp; Scope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F80D51-2881-4A27-BE59-C3B8AAAE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84784"/>
            <a:ext cx="685800" cy="1168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E83"/>
          </a:solidFill>
          <a:ln xmlns:a="http://schemas.openxmlformats.org/drawingml/2006/main" w="0">
            <a:solidFill>
              <a:srgbClr val="435E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1781A3-2BBD-4A84-8909-799B8674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13334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3345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A5F5A3-AC8B-4F28-82C6-A9613211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38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Strict</a:t>
            </a:r>
          </a:p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BA3CB-C730-4657-AF3F-F6679150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85030"/>
            <a:ext cx="685800" cy="467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6A6E"/>
          </a:solidFill>
          <a:ln xmlns:a="http://schemas.openxmlformats.org/drawingml/2006/main" w="0">
            <a:solidFill>
              <a:srgbClr val="E16A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A77FB-BC52-431A-96D0-A9275697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1358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1340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65C312-BEE8-406D-98A4-AA0595FF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38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Robustness</a:t>
            </a:r>
          </a:p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&amp; Security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E116C2-D20A-46D9-B654-FE3E227C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61865"/>
            <a:ext cx="685800" cy="39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7C"/>
          </a:solidFill>
          <a:ln xmlns:a="http://schemas.openxmlformats.org/drawingml/2006/main" w="0">
            <a:solidFill>
              <a:srgbClr val="B96A7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E49D13-3FA1-486E-B40E-8F87BB67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9041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1120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0DE5C8-498F-4E0C-8EBC-F2CFC113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38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User</a:t>
            </a:r>
          </a:p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Consent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71D427-D199-4C5C-B42A-E80DDCB1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69320"/>
            <a:ext cx="685800" cy="183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18A"/>
          </a:solidFill>
          <a:ln xmlns:a="http://schemas.openxmlformats.org/drawingml/2006/main" w="0">
            <a:solidFill>
              <a:srgbClr val="E7B1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3B1C1D-A39F-4CC7-ABE4-3B1015C1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9787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526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E75F2B-9468-45B3-B2DC-A64EFD1D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38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Hierarchy</a:t>
            </a:r>
          </a:p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Adherence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C0FCC9-3417-4A67-964E-BB5E4A8C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33232"/>
            <a:ext cx="685800" cy="1197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BE"/>
          </a:solidFill>
          <a:ln xmlns:a="http://schemas.openxmlformats.org/drawingml/2006/main" w="0">
            <a:solidFill>
              <a:srgbClr val="B7C6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2928A0-31CB-4E50-9B53-961080C4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61782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343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3F8513-586A-498A-A262-599417DC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38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defRPr sz="75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Handling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74C579-E605-4C37-AB65-F41DA751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47900"/>
            <a:ext cx="3981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0F8F54-95D0-45D3-A582-346BCA1A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6220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Source-task coverage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94CE15-6E1B-46B7-A22B-3EDB8A46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9850"/>
            <a:ext cx="3676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375 benchmark tasks:</a:t>
            </a:r>
          </a:p>
          <a:p xmlns:a="http://schemas.openxmlformats.org/drawingml/2006/main">
            <a:pPr algn="l">
              <a:defRPr sz="112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197 GitLab</a:t>
            </a:r>
          </a:p>
          <a:p xmlns:a="http://schemas.openxmlformats.org/drawingml/2006/main">
            <a:pPr algn="l">
              <a:defRPr sz="112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170 SuiteCRM</a:t>
            </a:r>
          </a:p>
          <a:p xmlns:a="http://schemas.openxmlformats.org/drawingml/2006/main">
            <a:pPr algn="l">
              <a:defRPr sz="112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8 ShoppingAdmin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F72396-0875-4B20-B02F-7D8A9904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3981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F8B43F-F49F-4769-A173-A99DE73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6710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3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734D"/>
                </a:solidFill>
                <a:latin typeface="Aptos"/>
                <a:ea typeface="Aptos"/>
                <a:cs typeface="Aptos"/>
              </a:rPr>
              <a:t>Split design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1BCAE7-4B5D-4EB8-9089-2154D38B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3676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12,493 train · 2,572 val · 2,877 test · 368 challenge</a:t>
            </a:r>
          </a:p>
          <a:p xmlns:a="http://schemas.openxmlformats.org/drawingml/2006/main">
            <a:pPr algn="l">
              <a:defRPr sz="106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Family-level splitting reduces near-duplicate leakage across partitions.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D34055-CB8C-4514-AACF-B2DB2D18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81500"/>
            <a:ext cx="3981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D8B6AD-9058-49AA-B2DD-2187E460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9580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Worked generation example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E1437E-6E59-475A-88BF-DC4045C4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43450"/>
            <a:ext cx="3676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Task: create an account</a:t>
            </a:r>
          </a:p>
          <a:p xmlns:a="http://schemas.openxmlformats.org/drawingml/2006/main">
            <a:pPr algn="l">
              <a:defRPr sz="1013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Policy: ask before Save</a:t>
            </a:r>
          </a:p>
          <a:p xmlns:a="http://schemas.openxmlformats.org/drawingml/2006/main">
            <a:pPr algn="l">
              <a:defRPr sz="1013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Context: suitecrm · accounts · create account</a:t>
            </a:r>
          </a:p>
          <a:p xmlns:a="http://schemas.openxmlformats.org/drawingml/2006/main">
            <a:pPr algn="l">
              <a:defRPr sz="1013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Label 0: send a confirmation message</a:t>
            </a:r>
          </a:p>
          <a:p xmlns:a="http://schemas.openxmlformats.org/drawingml/2006/main">
            <a:pPr algn="l">
              <a:defRPr sz="1013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Label 1: click Save (button)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8E02D3-A249-474A-8065-720D9771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715000"/>
            <a:ext cx="3981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4DF"/>
          </a:solidFill>
          <a:ln xmlns:a="http://schemas.openxmlformats.org/drawingml/2006/main" w="0">
            <a:solidFill>
              <a:srgbClr val="F4E4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87F0C4-E0EA-4092-A840-1FD36E8E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82930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4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4F4F"/>
                </a:solidFill>
                <a:latin typeface="Aptos"/>
                <a:ea typeface="Aptos"/>
                <a:cs typeface="Aptos"/>
              </a:rPr>
              <a:t>Why this is methodologically defensible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8B0D74-B0BA-4646-8DC0-CE87CD61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769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82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The benchmark controls the task and policy semantics. The synthetic step is used to create matched compliant and violating actions without relying on proprietary enterprise logs.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F5D50A-B7D6-48F1-96FF-D3D1BFA5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683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68398"/>
                </a:solidFill>
                <a:latin typeface="Aptos"/>
                <a:ea typeface="Aptos"/>
                <a:cs typeface="Aptos"/>
              </a:rPr>
              <a:t>Sources: Levy et al. (2026); Li et al. (2023); this study.</a:t>
            </a:r>
          </a:p>
        </p:txBody>
      </p:sp>
    </p:spTree>
    <p:extLst>
      <p:ext uri="{BB962C8B-B14F-4D97-AF65-F5344CB8AC3E}">
        <p14:creationId xmlns:p14="http://schemas.microsoft.com/office/powerpoint/2010/main" val="9360602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88D664-9F9F-4113-992B-DD68483A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38"/>
          </a:solidFill>
          <a:ln xmlns:a="http://schemas.openxmlformats.org/drawingml/2006/main" w="0">
            <a:solidFill>
              <a:srgbClr val="162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DC305-E1C9-4519-8DAE-CFCF380C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DFEC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3ECAD-700B-4639-8C9B-7F0CAAB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standard DeBERTa pipeline was enough once the data formulation was corrected.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24B37-3FF8-4C54-9931-46D50D1E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DFEC"/>
                </a:solidFill>
                <a:latin typeface="Aptos"/>
                <a:ea typeface="Aptos"/>
                <a:cs typeface="Aptos"/>
              </a:rPr>
              <a:t>The model choice is deliberately lightweight relative to LLM guardrail agents: 86M parameters, weighted cross-entropy, AdamW, and early stopping on validation F1.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C4898-292D-4A2B-8675-352BA58D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4476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5E"/>
          </a:solidFill>
          <a:ln xmlns:a="http://schemas.openxmlformats.org/drawingml/2006/main" w="0">
            <a:solidFill>
              <a:srgbClr val="2A3D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CBF4B-90D8-4F67-9542-321D654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17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E3F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E3F3"/>
                </a:solidFill>
                <a:latin typeface="Aptos"/>
                <a:ea typeface="Aptos"/>
                <a:cs typeface="Aptos"/>
              </a:rPr>
              <a:t>Training objective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31DEA-5AA1-4EAF-A3D3-AAA2B64C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 = - Σ_i w_(y_i) log p(y_i | x_i)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85DD5-6AD0-4A29-8690-E5FE33C8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17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FEC"/>
                </a:solidFill>
                <a:latin typeface="Aptos"/>
                <a:ea typeface="Aptos"/>
                <a:cs typeface="Aptos"/>
              </a:rPr>
              <a:t>Weighted cross-entropy keeps minority-class signal proportional even after filtering and deduplication.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E326B-494D-404E-A884-703A6358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4476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D5E"/>
          </a:solidFill>
          <a:ln xmlns:a="http://schemas.openxmlformats.org/drawingml/2006/main" w="0">
            <a:solidFill>
              <a:srgbClr val="2A3D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FD541-B9F3-4013-8BC3-17E818EA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417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E3F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E3F3"/>
                </a:solidFill>
                <a:latin typeface="Aptos"/>
                <a:ea typeface="Aptos"/>
                <a:cs typeface="Aptos"/>
              </a:rPr>
              <a:t>Class weight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4A016-BA75-4118-BEBE-F5CA4442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w_c = N / (K · n_c)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F1764-A4C9-43D2-912B-370393B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17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FEC"/>
                </a:solidFill>
                <a:latin typeface="Aptos"/>
                <a:ea typeface="Aptos"/>
                <a:cs typeface="Aptos"/>
              </a:rPr>
              <a:t>Inverse-frequency weighting was used instead of oversampling the same hard examples repeatedly.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DB6B9-1B64-4C96-950A-BA522FFD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C"/>
          </a:solidFill>
          <a:ln xmlns:a="http://schemas.openxmlformats.org/drawingml/2006/main" w="0">
            <a:solidFill>
              <a:srgbClr val="3146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F14C0-00F3-4CC8-AA4D-8F48C21E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417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9A2E"/>
                </a:solidFill>
                <a:latin typeface="Aptos"/>
                <a:ea typeface="Aptos"/>
                <a:cs typeface="Aptos"/>
              </a:rPr>
              <a:t>Configuration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D5E9E-7CCD-4C43-964E-DA3BAE2A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4171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Backbone: DeBERTa-v3-base (≈86M)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Optimiser: AdamW, learning rate = 2e-5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Stopping: validation F1, patience = 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233a63a0e4c8f"/>
          <a:stretch xmlns:a="http://schemas.openxmlformats.org/drawingml/2006/main"/>
        </p:blipFill>
        <p:spPr>
          <a:xfrm xmlns:a="http://schemas.openxmlformats.org/drawingml/2006/main">
            <a:off x="5638800" y="2797364"/>
            <a:ext cx="5753100" cy="2158622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CA325-3564-4F8C-9BE3-9D6D4041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429250"/>
            <a:ext cx="5753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54"/>
          </a:solidFill>
          <a:ln xmlns:a="http://schemas.openxmlformats.org/drawingml/2006/main" w="0">
            <a:solidFill>
              <a:srgbClr val="2537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1C1ED-9DEC-4C50-96FF-0249E795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62600"/>
            <a:ext cx="544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9A2E"/>
                </a:solidFill>
                <a:latin typeface="Aptos"/>
                <a:ea typeface="Aptos"/>
                <a:cs typeface="Aptos"/>
              </a:rPr>
              <a:t>Run card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48336-49C0-482F-B5D6-3004AB7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29300"/>
            <a:ext cx="544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GPU: NVIDIA H100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Epochs: 5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Batch size: 16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Max length: 512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timing: ~35 minutes training and ~45 minutes end-to-end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DA2F9-8AF8-4761-8FBD-F747F71B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9DB0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DB0C7"/>
                </a:solidFill>
                <a:latin typeface="Aptos"/>
                <a:ea typeface="Aptos"/>
                <a:cs typeface="Aptos"/>
              </a:rPr>
              <a:t>Source: final training configuration and implementation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30227-5A75-4F6F-8215-D8824850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D"/>
          </a:solidFill>
          <a:ln xmlns:a="http://schemas.openxmlformats.org/drawingml/2006/main" w="0">
            <a:solidFill>
              <a:srgbClr val="1F2C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A74E1-C743-41E7-9124-0F8EB8BC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8C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8C7"/>
                </a:solidFill>
                <a:latin typeface="Aptos"/>
                <a:ea typeface="Aptos"/>
                <a:cs typeface="Aptos"/>
              </a:rPr>
              <a:t>Sources: He et al. (2023); Loshchilov and Hutter (2019); Wolf et al. (2020); this study.</a:t>
            </a:r>
          </a:p>
        </p:txBody>
      </p:sp>
    </p:spTree>
    <p:extLst>
      <p:ext uri="{BB962C8B-B14F-4D97-AF65-F5344CB8AC3E}">
        <p14:creationId xmlns:p14="http://schemas.microsoft.com/office/powerpoint/2010/main" val="18060360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72F5F9-417A-41D8-AF74-1776B0A2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F7F2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4B7F9-4A3F-4F6D-B6ED-42095DD5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OFFLINE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AFA77-FD92-4FC3-8448-17E63974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1019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The easy test split is near ceiling. The challenge split is the more credible evidence of model behaviour.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5910A-187D-4C20-B9F8-18149A8D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1034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The main claim does not rest on the 0.9986 standard-test F1 alone. It rests on whether performance remains strong when the held-out data become less templatic and less in-distribution.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F0A73-2701-4B43-B408-8FD1D7B8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56197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50A8F-E23F-40DA-A93F-A6300556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527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Offline comparison (higher is better)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6001C-B751-4D32-9DC7-C4029418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354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solidFill>
              <a:srgbClr val="D7DD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67161-43C2-40FB-A229-83DF9E04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14288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solidFill>
              <a:srgbClr val="D7DD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A9BE1-F82A-4478-9D49-4BEDB270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F4A8E-391E-42FC-8366-4C6B8221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BF28B-78DB-4112-A8F5-BBE2C92A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3C161-89B2-4EF1-9CEE-5CCBE447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95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0.25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5FB16-E06A-4D2D-94C6-1BCC02BA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0BB3C-434B-4F8E-A8E2-8DA6B899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6D6D9-E9F7-4144-9430-46CD217F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86125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65415-EBDA-4CD4-880A-422D0B4C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33AC1-E03D-4FC6-BAE2-E9B4133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54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5"/>
          </a:solidFill>
          <a:ln xmlns:a="http://schemas.openxmlformats.org/drawingml/2006/main" w="0">
            <a:solidFill>
              <a:srgbClr val="EAEF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BF998-148F-45F8-A25C-53E0B687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ADAA7-A674-4D83-8D7D-D05D358F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61468"/>
            <a:ext cx="209550" cy="10391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7C"/>
          </a:solidFill>
          <a:ln xmlns:a="http://schemas.openxmlformats.org/drawingml/2006/main" w="0">
            <a:solidFill>
              <a:srgbClr val="B96A7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649C9-DE1B-4AC0-A3E6-4C3D5D9F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86954"/>
            <a:ext cx="209550" cy="2013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E83"/>
          </a:solidFill>
          <a:ln xmlns:a="http://schemas.openxmlformats.org/drawingml/2006/main" w="0">
            <a:solidFill>
              <a:srgbClr val="435E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81C37-2F03-4E3C-8764-20F5874C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81300"/>
            <a:ext cx="2095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D83"/>
          </a:solidFill>
          <a:ln xmlns:a="http://schemas.openxmlformats.org/drawingml/2006/main" w="0">
            <a:solidFill>
              <a:srgbClr val="6E5D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331F2-CDB6-474E-9575-EC6EBEC8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26100F-F6E5-4006-8018-F9CC34AD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85117"/>
            <a:ext cx="209550" cy="6154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7C"/>
          </a:solidFill>
          <a:ln xmlns:a="http://schemas.openxmlformats.org/drawingml/2006/main" w="0">
            <a:solidFill>
              <a:srgbClr val="B96A7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FA121-97B4-44D6-A1F1-AA06E2C0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81300"/>
            <a:ext cx="2095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E83"/>
          </a:solidFill>
          <a:ln xmlns:a="http://schemas.openxmlformats.org/drawingml/2006/main" w="0">
            <a:solidFill>
              <a:srgbClr val="435E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C6D7CC-425A-4569-8679-09570EDE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99542"/>
            <a:ext cx="209550" cy="17010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D83"/>
          </a:solidFill>
          <a:ln xmlns:a="http://schemas.openxmlformats.org/drawingml/2006/main" w="0">
            <a:solidFill>
              <a:srgbClr val="6E5D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52BA7B-AEB2-4566-B8B0-18BD951C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958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A33961-30B1-420F-AA76-77667E82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27612"/>
            <a:ext cx="209550" cy="772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7C"/>
          </a:solidFill>
          <a:ln xmlns:a="http://schemas.openxmlformats.org/drawingml/2006/main" w="0">
            <a:solidFill>
              <a:srgbClr val="B96A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6E6ABB-8ABC-40CA-8EFB-C6CDD00F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84127"/>
            <a:ext cx="209550" cy="20164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E83"/>
          </a:solidFill>
          <a:ln xmlns:a="http://schemas.openxmlformats.org/drawingml/2006/main" w="0">
            <a:solidFill>
              <a:srgbClr val="435E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70BA53-A759-44CB-8E95-4893E8F6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53950"/>
            <a:ext cx="209550" cy="184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D83"/>
          </a:solidFill>
          <a:ln xmlns:a="http://schemas.openxmlformats.org/drawingml/2006/main" w="0">
            <a:solidFill>
              <a:srgbClr val="6E5D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FE4615-E694-4BB5-97AD-F8EAF537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958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A6F2BD-5D7C-42A9-8739-D605A5F6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5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7C"/>
          </a:solidFill>
          <a:ln xmlns:a="http://schemas.openxmlformats.org/drawingml/2006/main" w="0">
            <a:solidFill>
              <a:srgbClr val="B96A7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63FEAA-4620-4BB2-8B70-46DAF92F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94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Rule baseline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F936CE-9FD7-4B7E-8C3F-3D18697E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E83"/>
          </a:solidFill>
          <a:ln xmlns:a="http://schemas.openxmlformats.org/drawingml/2006/main" w="0">
            <a:solidFill>
              <a:srgbClr val="435E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3CB75B-D3D3-404E-90B1-35233A0C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480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PCM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A99B90-29DF-4B02-9891-5C0CE526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4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D83"/>
          </a:solidFill>
          <a:ln xmlns:a="http://schemas.openxmlformats.org/drawingml/2006/main" w="0">
            <a:solidFill>
              <a:srgbClr val="6E5D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0ACB79-3C59-422B-AD94-29666A45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766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PCM challenge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1CDB07-EC9D-42A8-8CD3-999C4887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False positive 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9C3092-33FB-4DEF-9F92-9097A807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7DD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6B4C24-52B2-453B-B5DA-552FB76B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00600"/>
            <a:ext cx="876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solidFill>
              <a:srgbClr val="D7DD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AE1836-5B69-415E-9F1F-1B2CF9E2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14288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6"/>
          </a:solidFill>
          <a:ln xmlns:a="http://schemas.openxmlformats.org/drawingml/2006/main" w="0">
            <a:solidFill>
              <a:srgbClr val="D7DD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0B27CA-7AC7-47E3-8C82-9F896698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77918"/>
            <a:ext cx="209550" cy="122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E83"/>
          </a:solidFill>
          <a:ln xmlns:a="http://schemas.openxmlformats.org/drawingml/2006/main" w="0">
            <a:solidFill>
              <a:srgbClr val="435E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BC073D-2336-46D8-9B1E-119C2739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768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E66D33-DB4E-4224-8C52-242B6500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00600"/>
            <a:ext cx="209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D83"/>
          </a:solidFill>
          <a:ln xmlns:a="http://schemas.openxmlformats.org/drawingml/2006/main" w="0">
            <a:solidFill>
              <a:srgbClr val="6E5D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80565F-F1EE-4F8B-BC13-37E2994B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768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BF6CFF-DE9F-4032-A7AF-13894BBF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4825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84F4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84F4F"/>
                </a:solidFill>
                <a:latin typeface="Aptos"/>
                <a:ea typeface="Aptos"/>
                <a:cs typeface="Aptos"/>
              </a:rPr>
              <a:t>H1 target &lt; 0.15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9023E1-5A90-484B-85F3-8F44D0DF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1619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6D"/>
          </a:solidFill>
          <a:ln xmlns:a="http://schemas.openxmlformats.org/drawingml/2006/main" w="0">
            <a:solidFill>
              <a:srgbClr val="2F48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DE63F4-CD67-40EB-A5F5-CF1597BC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Challenge precision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3C1EDC-185D-4848-9CE3-84C107F2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1.0000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130089-E411-4AFD-8663-1DB51122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619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6D"/>
          </a:solidFill>
          <a:ln xmlns:a="http://schemas.openxmlformats.org/drawingml/2006/main" w="0">
            <a:solidFill>
              <a:srgbClr val="2F486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BDE4B1-AB0C-40F2-A026-D806187E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Challenge recall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3A60DA-F773-446D-9282-CA78C7CA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05100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0.8424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5F0540-CB22-468C-B27A-74595D4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1619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6D"/>
          </a:solidFill>
          <a:ln xmlns:a="http://schemas.openxmlformats.org/drawingml/2006/main" w="0">
            <a:solidFill>
              <a:srgbClr val="2F486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D304A3-DC7B-4850-824B-B095A124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Challenge F1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13E6AE-6F37-4ED3-9B8C-A1C30B81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0.9145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FEC876-58B8-437C-8119-3A9136DA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09950"/>
            <a:ext cx="1619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6D"/>
          </a:solidFill>
          <a:ln xmlns:a="http://schemas.openxmlformats.org/drawingml/2006/main" w="0">
            <a:solidFill>
              <a:srgbClr val="2F486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C25A22-EAAA-48E7-94C1-B3B37513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242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Challenge FPR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A1F769-AB7A-4BF5-BA9E-2761D662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71900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0.0000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885189-2CF3-4BB4-BD71-1DD5361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3371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25B432-420F-43E6-BE3A-35587B6B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Paired significance check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CB0B7E-C3E8-48AF-AC19-F73102FE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95850"/>
            <a:ext cx="3067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McNemar statistic:</a:t>
            </a:r>
          </a:p>
          <a:p xmlns:a="http://schemas.openxmlformats.org/drawingml/2006/main">
            <a:pPr algn="l">
              <a:defRPr sz="1013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χ² = (|b − c| − 1)^2 / (b + c) = 1411.057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Interpretation: the PCM outperforms the rule baseline on the same examples by a margin that is not plausibly due to chance.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E1F444-C47C-4F24-AF99-4D4EEDDA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810250"/>
            <a:ext cx="3371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89D5C5-3A69-4868-BCE8-7615409F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2455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3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734D"/>
                </a:solidFill>
                <a:latin typeface="Aptos"/>
                <a:ea typeface="Aptos"/>
                <a:cs typeface="Aptos"/>
              </a:rPr>
              <a:t>Why this matters operationally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DC9ED7-9BDF-4540-A6DA-F6542FB0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722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For a workflow guardrail, zero challenge-set false positives and recall above the H1 target are more meaningful than a near-perfect easy-split score alone.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758452-3A90-49E2-95BF-9148A70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683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68398"/>
                </a:solidFill>
                <a:latin typeface="Aptos"/>
                <a:ea typeface="Aptos"/>
                <a:cs typeface="Aptos"/>
              </a:rPr>
              <a:t>Sources: Saito and Rehmsmeier (2015); Levy et al. (2026); this study.</a:t>
            </a:r>
          </a:p>
        </p:txBody>
      </p:sp>
    </p:spTree>
    <p:extLst>
      <p:ext uri="{BB962C8B-B14F-4D97-AF65-F5344CB8AC3E}">
        <p14:creationId xmlns:p14="http://schemas.microsoft.com/office/powerpoint/2010/main" val="9046665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9FB4F3-2616-4692-969A-6B2291B4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38"/>
          </a:solidFill>
          <a:ln xmlns:a="http://schemas.openxmlformats.org/drawingml/2006/main" w="0">
            <a:solidFill>
              <a:srgbClr val="162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BC2B6-0FBD-49A9-9A83-A9BB4E13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DFEC"/>
                </a:solidFill>
                <a:latin typeface="Aptos"/>
                <a:ea typeface="Aptos"/>
                <a:cs typeface="Aptos"/>
              </a:rPr>
              <a:t>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CF0F7-8A94-480A-9A46-2E71311B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Robustness comes from dimension coverage and retention beyond easy held-out splits.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B0AC7-1125-4713-9AC2-9D84A108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DFEC"/>
                </a:solidFill>
                <a:latin typeface="Aptos"/>
                <a:ea typeface="Aptos"/>
                <a:cs typeface="Aptos"/>
              </a:rPr>
              <a:t>Standard-test scores are uniformly high, but the more meaningful robustness signal is how much performance survives on the harder challenge split.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4771829304df2"/>
          <a:stretch xmlns:a="http://schemas.openxmlformats.org/drawingml/2006/main"/>
        </p:blipFill>
        <p:spPr>
          <a:xfrm xmlns:a="http://schemas.openxmlformats.org/drawingml/2006/main">
            <a:off x="1794196" y="2266950"/>
            <a:ext cx="3822058" cy="18669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069046ec44add"/>
          <a:stretch xmlns:a="http://schemas.openxmlformats.org/drawingml/2006/main"/>
        </p:blipFill>
        <p:spPr>
          <a:xfrm xmlns:a="http://schemas.openxmlformats.org/drawingml/2006/main">
            <a:off x="1882739" y="4267200"/>
            <a:ext cx="3644971" cy="1771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60087-A390-4B10-9A65-FE71912C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4210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C"/>
          </a:solidFill>
          <a:ln xmlns:a="http://schemas.openxmlformats.org/drawingml/2006/main" w="0">
            <a:solidFill>
              <a:srgbClr val="3146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D2C74-DE81-40D9-9C75-071D1211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384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E3F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E3F3"/>
                </a:solidFill>
                <a:latin typeface="Aptos"/>
                <a:ea typeface="Aptos"/>
                <a:cs typeface="Aptos"/>
              </a:rPr>
              <a:t>Retention 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54C5C-10E3-4022-B707-613B6B67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retention = F1_challenge / F1_test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= 0.9145 / 0.9986 = 0.916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33EAF-6048-492F-8650-B2931110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04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FEC"/>
                </a:solidFill>
                <a:latin typeface="Aptos"/>
                <a:ea typeface="Aptos"/>
                <a:cs typeface="Aptos"/>
              </a:rPr>
              <a:t>This exceeds the H3 target of 0.70 by a substantial margin.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D6DA3-7F68-470C-8E60-F2E4FC56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57600"/>
            <a:ext cx="4210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54"/>
          </a:solidFill>
          <a:ln xmlns:a="http://schemas.openxmlformats.org/drawingml/2006/main" w="0">
            <a:solidFill>
              <a:srgbClr val="2537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9B2C1-B798-4052-AAD1-F6AD6FC2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9A2E"/>
                </a:solidFill>
                <a:latin typeface="Aptos"/>
                <a:ea typeface="Aptos"/>
                <a:cs typeface="Aptos"/>
              </a:rPr>
              <a:t>What the threshold plot really says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6FB53-A22C-4261-860C-479E4C09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5765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output distribution is highly bimodal. Threshold changes are measurable, but not smooth, because most scores already sit close to 0 or 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B4305-79EE-4C5C-AF94-621E6983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4210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C"/>
          </a:solidFill>
          <a:ln xmlns:a="http://schemas.openxmlformats.org/drawingml/2006/main" w="0">
            <a:solidFill>
              <a:srgbClr val="3146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232D4-21C4-4F80-8E50-B28B4132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9110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CB4ED-AC84-44AA-9F4D-823F993E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578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remaining decision is not whether the encoder can separate safe from unsafe actions at all. It is how aggressively to tune θ for a given deployment cost profile.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6B041-FC38-4C0F-AB72-F0F85490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9DB0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DB0C7"/>
                </a:solidFill>
                <a:latin typeface="Aptos"/>
                <a:ea typeface="Aptos"/>
                <a:cs typeface="Aptos"/>
              </a:rPr>
              <a:t>Sources: per-dimension performance, threshold sweep, and H3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667F0-8AE4-4981-A678-8E08E0FA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F7F2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A5815-27D9-4502-BDE6-D4E51469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683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68398"/>
                </a:solidFill>
                <a:latin typeface="Aptos"/>
                <a:ea typeface="Aptos"/>
                <a:cs typeface="Aptos"/>
              </a:rPr>
              <a:t>Sources: Li et al. (2023); Xue et al. (2025); this study.</a:t>
            </a:r>
          </a:p>
        </p:txBody>
      </p:sp>
    </p:spTree>
    <p:extLst>
      <p:ext uri="{BB962C8B-B14F-4D97-AF65-F5344CB8AC3E}">
        <p14:creationId xmlns:p14="http://schemas.microsoft.com/office/powerpoint/2010/main" val="19504934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E656BB-B3C5-4274-8888-A011238D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F7F2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04796-1729-42F7-A749-15F6F67E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E5E74"/>
                </a:solidFill>
                <a:latin typeface="Aptos"/>
                <a:ea typeface="Aptos"/>
                <a:cs typeface="Aptos"/>
              </a:rPr>
              <a:t>LIVE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2CCA1-3A8E-4B18-A276-F9F3B41F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E2D4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E2D44"/>
                </a:solidFill>
                <a:latin typeface="Georgia"/>
                <a:ea typeface="Georgia"/>
                <a:cs typeface="Georgia"/>
              </a:rPr>
              <a:t>The wrapper works in SuiteCRM, but live calibration is not solved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113E5-4D24-4D3B-B4DE-ED9E244B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The focused pilot is too small to prove H2. It is large enough to show that the wrapper intervenes correctly and that its remaining failures are now concrete and diagnosable.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dab78a18644cc"/>
          <a:stretch xmlns:a="http://schemas.openxmlformats.org/drawingml/2006/main"/>
        </p:blipFill>
        <p:spPr>
          <a:xfrm xmlns:a="http://schemas.openxmlformats.org/drawingml/2006/main">
            <a:off x="533400" y="2838068"/>
            <a:ext cx="6915150" cy="261061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52DD1-A1C3-4CC2-B696-BC2244CA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19350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DA857-17D9-4D9D-BF50-F7BD8F3A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3314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2D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2D44"/>
                </a:solidFill>
                <a:latin typeface="Aptos"/>
                <a:ea typeface="Aptos"/>
                <a:cs typeface="Aptos"/>
              </a:rPr>
              <a:t>What changed relative to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8BBDF-FBBA-480F-B0D6-E61327D2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331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D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D44"/>
                </a:solidFill>
                <a:latin typeface="Aptos"/>
                <a:ea typeface="Aptos"/>
                <a:cs typeface="Aptos"/>
              </a:rPr>
              <a:t>Baseline completed task 47 with eight observed violations. PCM did not complete the task, but reduced observed violations to six.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37E4D-D23E-42FF-B6CA-398D363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38550"/>
            <a:ext cx="361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BB9B0-1FA8-4201-9667-915508C5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719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E5E74"/>
                </a:solidFill>
                <a:latin typeface="Aptos"/>
                <a:ea typeface="Aptos"/>
                <a:cs typeface="Aptos"/>
              </a:rPr>
              <a:t>Most informative live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A9B81-2095-4033-AB9A-DE4E23AC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E2D44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E2D44"/>
                </a:solidFill>
                <a:latin typeface="Aptos Mono"/>
                <a:ea typeface="Aptos Mono"/>
                <a:cs typeface="Aptos Mono"/>
              </a:rPr>
              <a:t>P(v=1) = 0.996 on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E2D44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E2D44"/>
                </a:solidFill>
                <a:latin typeface="Aptos Mono"/>
                <a:ea typeface="Aptos Mono"/>
                <a:cs typeface="Aptos Mono"/>
              </a:rPr>
              <a:t>"click Create Account"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B82D0-929B-487F-B05E-3073CF51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148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The model appears to overgeneralise from the semantic proximity between opening a create flow and eventually clicking Save.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46668-50F4-42D7-A506-856EDE9A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67300"/>
            <a:ext cx="361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4DF"/>
          </a:solidFill>
          <a:ln xmlns:a="http://schemas.openxmlformats.org/drawingml/2006/main" w="0">
            <a:solidFill>
              <a:srgbClr val="F4E4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A84D0-9A94-4CE5-B6C7-3D485EA8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00650"/>
            <a:ext cx="3314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F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F4F"/>
                </a:solidFill>
                <a:latin typeface="Aptos"/>
                <a:ea typeface="Aptos"/>
                <a:cs typeface="Aptos"/>
              </a:rPr>
              <a:t>Why the pilot still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3448A-7B6D-40B7-8D56-537C5AF6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67350"/>
            <a:ext cx="3314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D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D44"/>
                </a:solidFill>
                <a:latin typeface="Aptos"/>
                <a:ea typeface="Aptos"/>
                <a:cs typeface="Aptos"/>
              </a:rPr>
              <a:t>It narrows the remaining problem. The failure is no longer policy blindness; it is calibration for benign transitional actions in live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28E03-0D7C-4550-9478-A6352082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96A1B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6A1B0"/>
                </a:solidFill>
                <a:latin typeface="Aptos"/>
                <a:ea typeface="Aptos"/>
                <a:cs typeface="Aptos"/>
              </a:rPr>
              <a:t>Source: focused SuiteCRM pilot, task 47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053C6-BF92-48EB-AD24-A55E8724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F7F2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A6DC1-0227-4C4E-A08E-2810EF35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683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68398"/>
                </a:solidFill>
                <a:latin typeface="Aptos"/>
                <a:ea typeface="Aptos"/>
                <a:cs typeface="Aptos"/>
              </a:rPr>
              <a:t>Sources: Levy et al. (2026); Venable et al. (2016); Wohlin et al. (2012); this study.</a:t>
            </a:r>
          </a:p>
        </p:txBody>
      </p:sp>
    </p:spTree>
    <p:extLst>
      <p:ext uri="{BB962C8B-B14F-4D97-AF65-F5344CB8AC3E}">
        <p14:creationId xmlns:p14="http://schemas.microsoft.com/office/powerpoint/2010/main" val="705953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8710EF-7E8E-4F0F-BD85-1AA1DF34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F7F2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61E15-B2D0-416E-804D-3CD80D01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BIAS, LIMITS, GENERALISABILITY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174D9-CC0D-4730-85E6-9E002EF2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The relevant bias question is methodological: how benchmark framing, synthetic construction, and runtime mismatch shape what the PCM learns.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58BBD-92E3-492D-9915-58B280E8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E5E74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4E5E74"/>
                </a:solidFill>
                <a:latin typeface="Aptos"/>
                <a:ea typeface="Aptos"/>
                <a:cs typeface="Aptos"/>
              </a:rPr>
              <a:t>There are no protected-attribute labels here, so a demographic fairness audit would not be evidence-based. The defensible move is to treat bias as a validity and generalisability problem and justify the safeguards accordingly.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AEFD4-96C2-4AA1-9195-E63E9193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2571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29A7F-70AB-4455-9DA7-A2465B2C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1. Benchmark framing bias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27CED-0D5E-4E3D-979A-DE664431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266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The corpus inherits ST-WebAgentBench’s task mix and policy framing. That improves standardisation, but it also imports the benchmark’s assumptions about what counts as a violation.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62DD8-C695-4C21-A4AC-191FD6FA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90800"/>
            <a:ext cx="2571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4DF"/>
          </a:solidFill>
          <a:ln xmlns:a="http://schemas.openxmlformats.org/drawingml/2006/main" w="0">
            <a:solidFill>
              <a:srgbClr val="F4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AC4ED-06D9-4E5E-9CFE-DF6CB458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051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4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4F4F"/>
                </a:solidFill>
                <a:latin typeface="Aptos"/>
                <a:ea typeface="Aptos"/>
                <a:cs typeface="Aptos"/>
              </a:rPr>
              <a:t>2. Synthetic construction bias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36A45-E07E-4DF7-9A3F-E42D571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52750"/>
            <a:ext cx="2266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Matched compliant and violating pairs are necessary for supervision, but they can still over-represent clean contrasts and under-represent messy enterprise incidents.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7F2AD-06A1-4767-A594-72BD02D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2571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4"/>
          </a:solidFill>
          <a:ln xmlns:a="http://schemas.openxmlformats.org/drawingml/2006/main" w="0">
            <a:solidFill>
              <a:srgbClr val="EFE4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223A1-9380-4644-BAC3-D3797071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3. Measurement mismatch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5154D-1781-410B-BDAE-4440E55F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2266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“Policy violation” is operationalised through benchmark policies and benchmark-shaped actions rather than naturally occurring compliance events. That is a construct-validity issue.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8B7E4-B834-47AB-ABC1-58681C22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90800"/>
            <a:ext cx="2295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8FAF8-E693-411A-B7A8-94EC7688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05100"/>
            <a:ext cx="1990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3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734D"/>
                </a:solidFill>
                <a:latin typeface="Aptos"/>
                <a:ea typeface="Aptos"/>
                <a:cs typeface="Aptos"/>
              </a:rPr>
              <a:t>4. What generalises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E18C0-572B-4DCB-BBD3-B7B49036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52750"/>
            <a:ext cx="1990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The evidence supports bounded transfer across policy-governed benchmark tasks. It does not yet establish transfer to enterprise incident logs or broad multi-task live deployment.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8FB84-D762-4D91-93E1-A7DBEFDA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610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solidFill>
              <a:srgbClr val="F4EF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22A9E-D6C3-4456-8472-4DA71A00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1030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Methodological response and justification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F1E82-1129-48E5-897B-3F5A2130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306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1080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Because the main threats are measurement and representation bias, the dissertation emphasises family-level split control, a harder challenge set, per-dimension error analysis, sanity probes, and live audit-log inspection. Those are the checks most directly aligned with the validity problem this study actually has.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1A080-043B-45E3-AB46-68C9DBE7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10610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E"/>
          </a:solidFill>
          <a:ln xmlns:a="http://schemas.openxmlformats.org/drawingml/2006/main" w="0">
            <a:solidFill>
              <a:srgbClr val="EDF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F6F1C-625C-4EED-B8FC-87180E38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76950"/>
            <a:ext cx="1030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73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734D"/>
                </a:solidFill>
                <a:latin typeface="Aptos"/>
                <a:ea typeface="Aptos"/>
                <a:cs typeface="Aptos"/>
              </a:rPr>
              <a:t>Implication for future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B33C5-798B-41BB-A37B-06E5DF64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24600"/>
            <a:ext cx="10306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The next step is broader live evaluation plus counterexample-driven recalibration, not unsupported fairness theatre. The Create Account false positive is useful because it identifies the remaining deployment problem precisely.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C654A-8C8A-469E-A002-E9AA4F03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683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68398"/>
                </a:solidFill>
                <a:latin typeface="Aptos"/>
                <a:ea typeface="Aptos"/>
                <a:cs typeface="Aptos"/>
              </a:rPr>
              <a:t>Sources: Jacobs and Wallach (2021); Suresh and Guttag (2021); Li et al. (2023); Geirhos et al. (2020).</a:t>
            </a:r>
          </a:p>
        </p:txBody>
      </p:sp>
    </p:spTree>
    <p:extLst>
      <p:ext uri="{BB962C8B-B14F-4D97-AF65-F5344CB8AC3E}">
        <p14:creationId xmlns:p14="http://schemas.microsoft.com/office/powerpoint/2010/main" val="9279096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5DAF51-7158-462D-9EF7-6FFE66C0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38"/>
          </a:solidFill>
          <a:ln xmlns:a="http://schemas.openxmlformats.org/drawingml/2006/main" w="0">
            <a:solidFill>
              <a:srgbClr val="1624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73693-515E-4490-9D9C-A70267A9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DFE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39CED-D444-4FBB-8537-6DD36477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remaining problem is calibration, not whether encoder-scale policy guardrails can work at 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B159B-E788-4B6A-A84E-C6299FF8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DFE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DFEC"/>
                </a:solidFill>
                <a:latin typeface="Aptos"/>
                <a:ea typeface="Aptos"/>
                <a:cs typeface="Aptos"/>
              </a:rPr>
              <a:t>The dissertation ends with a working artefact, a benchmark-grounded pipeline, and a much narrower technical question than it started with.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60952-D8DE-4EF0-AED7-5750EF01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238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54"/>
          </a:solidFill>
          <a:ln xmlns:a="http://schemas.openxmlformats.org/drawingml/2006/main" w="0">
            <a:solidFill>
              <a:srgbClr val="2537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B1746-D8BF-4799-83FB-9B1FAC12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93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9A2E"/>
                </a:solidFill>
                <a:latin typeface="Aptos"/>
                <a:ea typeface="Aptos"/>
                <a:cs typeface="Aptos"/>
              </a:rPr>
              <a:t>Artefact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781EF-2533-4246-8D21-A7AC740A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933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PolicyCompliantAgent: a BrowserGym-compatible pre-execution wrapper with per-policy scoring, thresholded permit/block decisions, and an audit trail.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EF061-5CDD-46ED-968C-10047456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238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54"/>
          </a:solidFill>
          <a:ln xmlns:a="http://schemas.openxmlformats.org/drawingml/2006/main" w="0">
            <a:solidFill>
              <a:srgbClr val="2537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E6EDE-123C-46F2-A2EF-F0BC86E0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93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9A2E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BECDA-D89D-493D-897E-44187C16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24200"/>
            <a:ext cx="2933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Benchmark-grounded corpus builder plus reproducible DeBERTa training and evaluation path. This is what made the final evidence credible.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386BC-01AC-404F-B96F-51D19781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238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54"/>
          </a:solidFill>
          <a:ln xmlns:a="http://schemas.openxmlformats.org/drawingml/2006/main" w="0">
            <a:solidFill>
              <a:srgbClr val="2537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0E999-EE62-471E-A8BE-DEF388A6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293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9A2E"/>
                </a:solidFill>
                <a:latin typeface="Aptos"/>
                <a:ea typeface="Aptos"/>
                <a:cs typeface="Aptos"/>
              </a:rPr>
              <a:t>Research agenda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8758B-7759-48B3-B035-385FD94C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2933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Expand the live SuiteCRM study, recycle live false positives into targeted retraining, and revisit threshold calibration on live-development tasks.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56745-50AA-41A4-9FCB-78A44CAC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4819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C"/>
          </a:solidFill>
          <a:ln xmlns:a="http://schemas.openxmlformats.org/drawingml/2006/main" w="0">
            <a:solidFill>
              <a:srgbClr val="3146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C6FB8-EDEB-4E20-959C-636AD619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451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5DA89-B1D0-476E-8FBF-72339F06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451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Yes. Encoder-scale policy guardrails can work when the training corpus is benchmark-grounded and the evaluation includes harder challenge cases.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0B8A6-6C81-4AE9-8AC6-53C0B870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29150"/>
            <a:ext cx="552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C"/>
          </a:solidFill>
          <a:ln xmlns:a="http://schemas.openxmlformats.org/drawingml/2006/main" w="0">
            <a:solidFill>
              <a:srgbClr val="3146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D8171-8F7B-4A9C-AF1E-87A3EB51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521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9A2E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A46E9-029B-4F70-83E6-48819B47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29200"/>
            <a:ext cx="52197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github.com/babdulhakim2/babdulhakim2.github.io/tree/main/final_project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2D34A-86C6-4051-AC10-27EFA5C5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57800"/>
            <a:ext cx="552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C"/>
          </a:solidFill>
          <a:ln xmlns:a="http://schemas.openxmlformats.org/drawingml/2006/main" w="0">
            <a:solidFill>
              <a:srgbClr val="3146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CBC55-80CF-4DE7-835A-EE76F541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91150"/>
            <a:ext cx="521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9A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9A2E"/>
                </a:solidFill>
                <a:latin typeface="Aptos"/>
                <a:ea typeface="Aptos"/>
                <a:cs typeface="Aptos"/>
              </a:rPr>
              <a:t>Model artifact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0B1AB-B18A-4E9F-8B4F-8705D24E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57850"/>
            <a:ext cx="52197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huggingface.co/superfunguy/pcm-benchmark-grounded-deberta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34A1C-4F75-4337-A145-96639D32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9817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D48A59-E42B-46FA-A1B1-0C5251B9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9DB0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DB0C7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F10C28-6464-4734-BF37-AF1A794A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3D"/>
          </a:solidFill>
          <a:ln xmlns:a="http://schemas.openxmlformats.org/drawingml/2006/main" w="0">
            <a:solidFill>
              <a:srgbClr val="1F2C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80CF0-709A-47CE-B6B7-54BF9151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8C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8C7"/>
                </a:solidFill>
                <a:latin typeface="Aptos"/>
                <a:ea typeface="Aptos"/>
                <a:cs typeface="Aptos"/>
              </a:rPr>
              <a:t>Sources: Levy et al. (2026); Venable et al. (2016); this study.</a:t>
            </a:r>
          </a:p>
        </p:txBody>
      </p:sp>
    </p:spTree>
    <p:extLst>
      <p:ext uri="{BB962C8B-B14F-4D97-AF65-F5344CB8AC3E}">
        <p14:creationId xmlns:p14="http://schemas.microsoft.com/office/powerpoint/2010/main" val="6976758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4463B-CC9C-43C3-9D7A-C807B9CA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0">
            <a:solidFill>
              <a:srgbClr val="F7F2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95971-F034-4F93-ACAA-12E639A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E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E83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A9A1C-BEE5-46B5-90B2-16904875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1047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C3D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F2C3D"/>
                </a:solidFill>
                <a:latin typeface="Georgia"/>
                <a:ea typeface="Georgia"/>
                <a:cs typeface="Georgia"/>
              </a:rPr>
              <a:t>Key academic sources used in the presentation, with visible links for follow-up reading.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14BC6-3D54-48C1-A810-B0058853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1816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4CFA5-520B-4053-A169-1C481A27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Benchmarks, methods, and model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600DF-4258-414A-A906-D333C574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8768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de Chezelles, T.L.S. et al. (2025) BrowserGym ecosystem for web agent research. https://arxiv.org/abs/2412.05467</a:t>
            </a:r>
          </a:p>
          <a:p xmlns:a="http://schemas.openxmlformats.org/drawingml/2006/main">
            <a:pPr algn="l">
              <a:defRPr sz="91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Geirhos, R. et al. (2020) Shortcut learning in deep neural networks. https://doi.org/10.1038/s42256-020-00257-z</a:t>
            </a:r>
          </a:p>
          <a:p xmlns:a="http://schemas.openxmlformats.org/drawingml/2006/main">
            <a:pPr algn="l">
              <a:defRPr sz="91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He, P., Gao, J. and Chen, W. (2023) DeBERTaV3. https://openreview.net/forum?id=sE7-XhLxHA</a:t>
            </a:r>
          </a:p>
          <a:p xmlns:a="http://schemas.openxmlformats.org/drawingml/2006/main">
            <a:pPr algn="l">
              <a:defRPr sz="91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Jacobs, A.Z. and Wallach, H. (2021) Measurement and fairness. https://doi.org/10.1145/3442188.3445889</a:t>
            </a:r>
          </a:p>
          <a:p xmlns:a="http://schemas.openxmlformats.org/drawingml/2006/main">
            <a:pPr algn="l">
              <a:defRPr sz="91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Levy, I. et al. (2026) ST-WebAgentBench. https://arxiv.org/abs/2410.06703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EA02B-BBF7-4773-8BAE-1704E71D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51816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F5B1F-18B8-4AB9-984D-7332FDDE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C3D"/>
                </a:solidFill>
                <a:latin typeface="Aptos"/>
                <a:ea typeface="Aptos"/>
                <a:cs typeface="Aptos"/>
              </a:rPr>
              <a:t>Evaluation, bias, and 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22B94-BBE9-4F4A-A5E5-C30CE153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8768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Li, Z. et al. (2023) Synthetic data generation with LLMs for text classification. https://doi.org/10.18653/v1/2023.emnlp-main.647</a:t>
            </a:r>
          </a:p>
          <a:p xmlns:a="http://schemas.openxmlformats.org/drawingml/2006/main">
            <a:pPr algn="l">
              <a:defRPr sz="91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Saito, T. and Rehmsmeier, M. (2015) Precision-recall plot on imbalanced datasets. https://doi.org/10.1371/journal.pone.0118432</a:t>
            </a:r>
          </a:p>
          <a:p xmlns:a="http://schemas.openxmlformats.org/drawingml/2006/main">
            <a:pPr algn="l">
              <a:defRPr sz="91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Suresh, H. and Guttag, J. (2021) Sources of harm throughout the ML life cycle. https://doi.org/10.1145/3442188.3445922</a:t>
            </a:r>
          </a:p>
          <a:p xmlns:a="http://schemas.openxmlformats.org/drawingml/2006/main">
            <a:pPr algn="l">
              <a:defRPr sz="91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Venable, J., Pries-Heje, J. and Baskerville, R. (2016) FEDS evaluation framework. https://doi.org/10.1057/ejis.2015.21</a:t>
            </a:r>
          </a:p>
          <a:p xmlns:a="http://schemas.openxmlformats.org/drawingml/2006/main">
            <a:pPr algn="l">
              <a:defRPr sz="91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• Xue, T. et al. (2025) An illusion of progress? https://arxiv.org/abs/2504.01382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E9022-240D-4D33-A66B-683C9D88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72200"/>
            <a:ext cx="1059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solidFill>
              <a:srgbClr val="F4EF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28DB4-BB22-4D74-8A96-C3A05946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57925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F2C3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C3D"/>
                </a:solidFill>
                <a:latin typeface="Aptos"/>
                <a:ea typeface="Aptos"/>
                <a:cs typeface="Aptos"/>
              </a:rPr>
              <a:t>Repository: github.com/babdulhakim2/babdulhakim2.github.io/tree/main/final_project    |    Model: huggingface.co/superfunguy/pcm-benchmark-grounded-deberta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C9AC2-928E-45B5-96A1-8E330FD4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629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6839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68398"/>
                </a:solidFill>
                <a:latin typeface="Aptos"/>
                <a:ea typeface="Aptos"/>
                <a:cs typeface="Aptos"/>
              </a:rPr>
              <a:t>Selected references for the presentation; full bibliography in the dissertation.</a:t>
            </a:r>
          </a:p>
        </p:txBody>
      </p:sp>
    </p:spTree>
    <p:extLst>
      <p:ext uri="{BB962C8B-B14F-4D97-AF65-F5344CB8AC3E}">
        <p14:creationId xmlns:p14="http://schemas.microsoft.com/office/powerpoint/2010/main" val="545505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2026-05-17T15:39:19.7040000Z</dcterms:created>
  <dcterms:modified xsi:type="dcterms:W3CDTF">2026-05-17T15:39:19.7040000Z</dcterms:modified>
</coreProperties>
</file>